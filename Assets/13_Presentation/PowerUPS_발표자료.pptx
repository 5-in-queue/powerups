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75120" y="0"/>
            <a:ext cx="5516575" cy="6858000"/>
          </a:xfrm>
          <a:prstGeom prst="rect">
            <a:avLst/>
          </a:prstGeom>
          <a:solidFill>
            <a:srgbClr val="1E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owerups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52387"/>
            <a:ext cx="4846320" cy="295322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2148840"/>
            <a:ext cx="822960" cy="8229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2B705"/>
                </a:solidFill>
                <a:latin typeface="Apple SD Gothic Neo"/>
              </a:rPr>
              <a:t>UNITY  ·  PHOTON FUSION  ONLINE PVP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5852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0" b="1">
                <a:solidFill>
                  <a:srgbClr val="FFFFFF"/>
                </a:solidFill>
                <a:latin typeface="Apple SD Gothic Neo"/>
              </a:rPr>
              <a:t>PowerUPS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5669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C9C9D4"/>
                </a:solidFill>
                <a:latin typeface="Apple SD Gothic Neo"/>
              </a:rPr>
              <a:t>카드로 진화하는 1:1 실시간 대전 슈팅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0350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8A9A"/>
                </a:solidFill>
                <a:latin typeface="Apple SD Gothic Neo"/>
              </a:rPr>
              <a:t>프로젝트 소개 발표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38404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2B705"/>
                </a:solidFill>
                <a:latin typeface="Apple SD Gothic Neo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Apple SD Gothic Neo"/>
              </a:rPr>
              <a:t>게임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700">
                <a:solidFill>
                  <a:srgbClr val="C9C9D4"/>
                </a:solidFill>
                <a:latin typeface="Apple SD Gothic Neo"/>
              </a:rPr>
              <a:t>•  장르 : 1:1 실시간 온라인 대전 슈팅 + 카드 강화 로그라이트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700">
                <a:solidFill>
                  <a:srgbClr val="C9C9D4"/>
                </a:solidFill>
                <a:latin typeface="Apple SD Gothic Neo"/>
              </a:rPr>
              <a:t>•  승리 조건 : 상대보다 먼저 5킬을 달성하면 매치 승리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700">
                <a:solidFill>
                  <a:srgbClr val="C9C9D4"/>
                </a:solidFill>
                <a:latin typeface="Apple SD Gothic Neo"/>
              </a:rPr>
              <a:t>•  라운드제 : 한 번의 사망이 곧 한 라운드의 끝 — 죽은 플레이어만 즉시 리스폰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700">
                <a:solidFill>
                  <a:srgbClr val="C9C9D4"/>
                </a:solidFill>
                <a:latin typeface="Apple SD Gothic Neo"/>
              </a:rPr>
              <a:t>•  성장 시스템 : 라운드가 끝날 때마다 파워업 카드를 골라 즉시 전투력을 강화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700">
                <a:solidFill>
                  <a:srgbClr val="C9C9D4"/>
                </a:solidFill>
                <a:latin typeface="Apple SD Gothic Neo"/>
              </a:rPr>
              <a:t>•  기본 체력 150에서 시작해, 카드 선택을 반복하며 두 플레이어가 계속 강해지는 구조</a:t>
            </a:r>
          </a:p>
        </p:txBody>
      </p:sp>
      <p:pic>
        <p:nvPicPr>
          <p:cNvPr id="7" name="Picture 6" descr="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768448"/>
            <a:ext cx="4937760" cy="17783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A8A9A"/>
                </a:solidFill>
                <a:latin typeface="Apple SD Gothic Ne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A9A"/>
                </a:solidFill>
                <a:latin typeface="Apple SD Gothic Neo"/>
              </a:rPr>
              <a:t>PowerUPS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38404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2B705"/>
                </a:solidFill>
                <a:latin typeface="Apple SD Gothic Neo"/>
              </a:rPr>
              <a:t>GAME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Apple SD Gothic Neo"/>
              </a:rPr>
              <a:t>게임 진행 흐름</a:t>
            </a:r>
          </a:p>
        </p:txBody>
      </p:sp>
      <p:sp>
        <p:nvSpPr>
          <p:cNvPr id="6" name="Rectangle 5"/>
          <p:cNvSpPr/>
          <p:nvPr/>
        </p:nvSpPr>
        <p:spPr>
          <a:xfrm>
            <a:off x="897486" y="2194560"/>
            <a:ext cx="1874519" cy="1554480"/>
          </a:xfrm>
          <a:prstGeom prst="rect">
            <a:avLst/>
          </a:prstGeom>
          <a:solidFill>
            <a:srgbClr val="1E1E2A"/>
          </a:solidFill>
          <a:ln w="952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7486" y="2395728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Apple SD Gothic Neo"/>
              </a:rPr>
              <a:t>매칭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8926" y="2971800"/>
            <a:ext cx="16916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9D4"/>
                </a:solidFill>
                <a:latin typeface="Apple SD Gothic Neo"/>
              </a:rPr>
              <a:t>2인 정원 룸 매칭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72005" y="2971800.0"/>
            <a:ext cx="256032" cy="0.0"/>
          </a:xfrm>
          <a:prstGeom prst="line">
            <a:avLst/>
          </a:prstGeom>
          <a:ln w="25400">
            <a:solidFill>
              <a:srgbClr val="F2B7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028037" y="2194560"/>
            <a:ext cx="1874519" cy="1554480"/>
          </a:xfrm>
          <a:prstGeom prst="rect">
            <a:avLst/>
          </a:prstGeom>
          <a:solidFill>
            <a:srgbClr val="1E1E2A"/>
          </a:solidFill>
          <a:ln w="952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28037" y="2395728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Apple SD Gothic Neo"/>
              </a:rPr>
              <a:t>로딩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9477" y="2971800"/>
            <a:ext cx="16916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9D4"/>
                </a:solidFill>
                <a:latin typeface="Apple SD Gothic Neo"/>
              </a:rPr>
              <a:t>전투 씬 로드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02556" y="2971800.0"/>
            <a:ext cx="256032" cy="0.0"/>
          </a:xfrm>
          <a:prstGeom prst="line">
            <a:avLst/>
          </a:prstGeom>
          <a:ln w="25400">
            <a:solidFill>
              <a:srgbClr val="F2B7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158588" y="2194560"/>
            <a:ext cx="1874519" cy="1554480"/>
          </a:xfrm>
          <a:prstGeom prst="rect">
            <a:avLst/>
          </a:prstGeom>
          <a:solidFill>
            <a:srgbClr val="1E1E2A"/>
          </a:solidFill>
          <a:ln w="952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8588" y="2395728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Apple SD Gothic Neo"/>
              </a:rPr>
              <a:t>카드 선택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0028" y="2971800"/>
            <a:ext cx="16916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9D4"/>
                </a:solidFill>
                <a:latin typeface="Apple SD Gothic Neo"/>
              </a:rPr>
              <a:t>30초, 4장 중 1장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33107" y="2971800.0"/>
            <a:ext cx="256032" cy="0.0"/>
          </a:xfrm>
          <a:prstGeom prst="line">
            <a:avLst/>
          </a:prstGeom>
          <a:ln w="25400">
            <a:solidFill>
              <a:srgbClr val="F2B7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289139" y="2194560"/>
            <a:ext cx="1874519" cy="1554480"/>
          </a:xfrm>
          <a:prstGeom prst="rect">
            <a:avLst/>
          </a:prstGeom>
          <a:solidFill>
            <a:srgbClr val="1E1E2A"/>
          </a:solidFill>
          <a:ln w="952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89139" y="2395728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Apple SD Gothic Neo"/>
              </a:rPr>
              <a:t>전투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0579" y="2971800"/>
            <a:ext cx="16916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9D4"/>
                </a:solidFill>
                <a:latin typeface="Apple SD Gothic Neo"/>
              </a:rPr>
              <a:t>1킬 = 라운드 종료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63658" y="2971800.0"/>
            <a:ext cx="256032" cy="0.0"/>
          </a:xfrm>
          <a:prstGeom prst="line">
            <a:avLst/>
          </a:prstGeom>
          <a:ln w="25400">
            <a:solidFill>
              <a:srgbClr val="F2B7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419690" y="2194560"/>
            <a:ext cx="1874519" cy="1554480"/>
          </a:xfrm>
          <a:prstGeom prst="rect">
            <a:avLst/>
          </a:prstGeom>
          <a:solidFill>
            <a:srgbClr val="1E1E2A"/>
          </a:solidFill>
          <a:ln w="952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9690" y="2395728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Apple SD Gothic Neo"/>
              </a:rPr>
              <a:t>라운드 종료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11130" y="2971800"/>
            <a:ext cx="16916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9D4"/>
                </a:solidFill>
                <a:latin typeface="Apple SD Gothic Neo"/>
              </a:rPr>
              <a:t>3초 후 리스폰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486" y="4206240"/>
            <a:ext cx="10396723" cy="822960"/>
          </a:xfrm>
          <a:prstGeom prst="rect">
            <a:avLst/>
          </a:prstGeom>
          <a:solidFill>
            <a:srgbClr val="2A2210"/>
          </a:solidFill>
          <a:ln w="9525">
            <a:solidFill>
              <a:srgbClr val="2A2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1806" y="4343400"/>
            <a:ext cx="984808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2B705"/>
                </a:solidFill>
                <a:latin typeface="Apple SD Gothic Neo"/>
              </a:rPr>
              <a:t>5킬 미만 → 다시 ‘카드 선택’으로 반복   /   5킬 달성 → 매치 종료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486" y="5394960"/>
            <a:ext cx="1039672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8A8A9A"/>
                </a:solidFill>
                <a:latin typeface="Apple SD Gothic Neo"/>
              </a:rPr>
              <a:t>GameFlowManager: Waiting → Loading → AugmentSelect → RoundActive → RoundEnd → MatchEnd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A8A9A"/>
                </a:solidFill>
                <a:latin typeface="Apple SD Gothic Neo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A9A"/>
                </a:solidFill>
                <a:latin typeface="Apple SD Gothic Neo"/>
              </a:rPr>
              <a:t>PowerUPS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38404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2B705"/>
                </a:solidFill>
                <a:latin typeface="Apple SD Gothic Neo"/>
              </a:rPr>
              <a:t>COMBAT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Apple SD Gothic Neo"/>
              </a:rPr>
              <a:t>전투 시스템</a:t>
            </a:r>
          </a:p>
        </p:txBody>
      </p:sp>
      <p:pic>
        <p:nvPicPr>
          <p:cNvPr id="6" name="Picture 5" descr="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088081"/>
            <a:ext cx="5669280" cy="2041757"/>
          </a:xfrm>
          <a:prstGeom prst="rect">
            <a:avLst/>
          </a:prstGeom>
        </p:spPr>
      </p:pic>
      <p:pic>
        <p:nvPicPr>
          <p:cNvPr id="7" name="Picture 6" descr="bull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572000"/>
            <a:ext cx="1463040" cy="1463040"/>
          </a:xfrm>
          <a:prstGeom prst="rect">
            <a:avLst/>
          </a:prstGeom>
        </p:spPr>
      </p:pic>
      <p:pic>
        <p:nvPicPr>
          <p:cNvPr id="8" name="Picture 7" descr="crossh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0" y="4754880"/>
            <a:ext cx="1188720" cy="1188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7373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C9C9D4"/>
                </a:solidFill>
                <a:latin typeface="Apple SD Gothic Neo"/>
              </a:rPr>
              <a:t>•  무기 스탯은 GunData 애셋으로 정의 : 데미지 · 탄속 · 발사속도 · 탄창 · 재장전속도 · 명중률 · 벽 튕김 횟수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C9C9D4"/>
                </a:solidFill>
                <a:latin typeface="Apple SD Gothic Neo"/>
              </a:rPr>
              <a:t>•  기본 무기 스탯 : 데미지 13, 초당 8발 발사, 탄창 30발, 재장전 1초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C9C9D4"/>
                </a:solidFill>
                <a:latin typeface="Apple SD Gothic Neo"/>
              </a:rPr>
              <a:t>•  무기별 데이터를 손쉽게 추가할 수 있는 구조로 설계되어 있어, 향후 다양한 총기 확장이 가능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C9C9D4"/>
                </a:solidFill>
                <a:latin typeface="Apple SD Gothic Neo"/>
              </a:rPr>
              <a:t>•  사망 시 3초 뒤 자동 리스폰, 동시 사망 시 양쪽 모두 리스폰 처리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C9C9D4"/>
                </a:solidFill>
                <a:latin typeface="Apple SD Gothic Neo"/>
              </a:rPr>
              <a:t>•  체력 · 이동속도 · 명중률 · 탄속 등은 모두 파워업 카드로 실시간 변화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A8A9A"/>
                </a:solidFill>
                <a:latin typeface="Apple SD Gothic Neo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A9A"/>
                </a:solidFill>
                <a:latin typeface="Apple SD Gothic Neo"/>
              </a:rPr>
              <a:t>PowerUPS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38404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2B705"/>
                </a:solidFill>
                <a:latin typeface="Apple SD Gothic Neo"/>
              </a:rPr>
              <a:t>CORE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Apple SD Gothic Neo"/>
              </a:rPr>
              <a:t>파워업 카드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C9C9D4"/>
                </a:solidFill>
                <a:latin typeface="Apple SD Gothic Neo"/>
              </a:rPr>
              <a:t>라운드가 끝날 때마다 4장 중 1장을 선택해 즉시 전투력을 강화한다</a:t>
            </a:r>
          </a:p>
        </p:txBody>
      </p:sp>
      <p:pic>
        <p:nvPicPr>
          <p:cNvPr id="7" name="Picture 6" descr="Ricoch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787" y="2057400"/>
            <a:ext cx="22860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3787" y="57607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Ricochet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787" y="60990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F2B705"/>
                </a:solidFill>
                <a:latin typeface="Apple SD Gothic Neo"/>
              </a:rPr>
              <a:t>탄환 벽 튕김 +1</a:t>
            </a:r>
          </a:p>
        </p:txBody>
      </p:sp>
      <p:pic>
        <p:nvPicPr>
          <p:cNvPr id="10" name="Picture 9" descr="SlowBu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827" y="2057400"/>
            <a:ext cx="2286000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49827" y="57607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Slow Bullet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9827" y="60990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F2B705"/>
                </a:solidFill>
                <a:latin typeface="Apple SD Gothic Neo"/>
              </a:rPr>
              <a:t>탄속 약 41% 감소</a:t>
            </a:r>
          </a:p>
        </p:txBody>
      </p:sp>
      <p:pic>
        <p:nvPicPr>
          <p:cNvPr id="13" name="Picture 12" descr="SplitBul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5867" y="2057400"/>
            <a:ext cx="2286000" cy="3657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55867" y="57607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Split Bullet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5867" y="60990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F2B705"/>
                </a:solidFill>
                <a:latin typeface="Apple SD Gothic Neo"/>
              </a:rPr>
              <a:t>펠릿 +1 / 데미지 -2</a:t>
            </a:r>
          </a:p>
        </p:txBody>
      </p:sp>
      <p:pic>
        <p:nvPicPr>
          <p:cNvPr id="16" name="Picture 15" descr="TangTangB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1907" y="2057400"/>
            <a:ext cx="2286000" cy="3657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61907" y="57607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TangTangBall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1907" y="60990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F2B705"/>
                </a:solidFill>
                <a:latin typeface="Apple SD Gothic Neo"/>
              </a:rPr>
              <a:t>벽 튕김 +6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A8A9A"/>
                </a:solidFill>
                <a:latin typeface="Apple SD Gothic Neo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A9A"/>
                </a:solidFill>
                <a:latin typeface="Apple SD Gothic Neo"/>
              </a:rPr>
              <a:t>PowerUPS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38404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2B705"/>
                </a:solidFill>
                <a:latin typeface="Apple SD Gothic Neo"/>
              </a:rPr>
              <a:t>CARD SELECT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Apple SD Gothic Neo"/>
              </a:rPr>
              <a:t>카드 선택 UI</a:t>
            </a:r>
          </a:p>
        </p:txBody>
      </p:sp>
      <p:pic>
        <p:nvPicPr>
          <p:cNvPr id="6" name="Picture 5" descr="Lengendary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755648"/>
            <a:ext cx="1920240" cy="3072384"/>
          </a:xfrm>
          <a:prstGeom prst="rect">
            <a:avLst/>
          </a:prstGeom>
        </p:spPr>
      </p:pic>
      <p:pic>
        <p:nvPicPr>
          <p:cNvPr id="7" name="Picture 6" descr="Red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1755648"/>
            <a:ext cx="1920240" cy="30723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0" y="4983480"/>
            <a:ext cx="4023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8A8A9A"/>
                </a:solidFill>
                <a:latin typeface="Apple SD Gothic Neo"/>
              </a:rPr>
              <a:t>카드 프레임 아트웍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8A8A9A"/>
                </a:solidFill>
                <a:latin typeface="Apple SD Gothic Neo"/>
              </a:rPr>
              <a:t>(레어도 확장을 위해 준비된 리소스)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6858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C9C9D4"/>
                </a:solidFill>
                <a:latin typeface="Apple SD Gothic Neo"/>
              </a:rPr>
              <a:t>•  카드 강화 UI에서 4장이 카드 슬롯에 배치되어 좌우로 순환 노출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C9C9D4"/>
                </a:solidFill>
                <a:latin typeface="Apple SD Gothic Neo"/>
              </a:rPr>
              <a:t>•  조작 : A / D 키로 카드 탐색, Enter 키로 확정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C9C9D4"/>
                </a:solidFill>
                <a:latin typeface="Apple SD Gothic Neo"/>
              </a:rPr>
              <a:t>•  제한 시간 30초 — 시간 초과 시 무작위 카드가 자동 선택됨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C9C9D4"/>
                </a:solidFill>
                <a:latin typeface="Apple SD Gothic Neo"/>
              </a:rPr>
              <a:t>•  두 플레이어가 각자 카드를 선택(RPC 전송)하고, 모두 선택을 마치면 서버가 동시에 효과를 적용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C9C9D4"/>
                </a:solidFill>
                <a:latin typeface="Apple SD Gothic Neo"/>
              </a:rPr>
              <a:t>•  카드 프레임 아트는 Legendary / Red 등 등급별 디자인까지 준비되어 있어 향후 레어도 시스템으로 확장 가능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A8A9A"/>
                </a:solidFill>
                <a:latin typeface="Apple SD Gothic Neo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A9A"/>
                </a:solidFill>
                <a:latin typeface="Apple SD Gothic Neo"/>
              </a:rPr>
              <a:t>PowerUPS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38404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2B705"/>
                </a:solidFill>
                <a:latin typeface="Apple SD Gothic Neo"/>
              </a:rPr>
              <a:t>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Apple SD Gothic Neo"/>
              </a:rPr>
              <a:t>멀티플레이어 아키텍처</a:t>
            </a:r>
          </a:p>
        </p:txBody>
      </p:sp>
      <p:sp>
        <p:nvSpPr>
          <p:cNvPr id="6" name="Rectangle 5"/>
          <p:cNvSpPr/>
          <p:nvPr/>
        </p:nvSpPr>
        <p:spPr>
          <a:xfrm>
            <a:off x="746607" y="1783080"/>
            <a:ext cx="2468880" cy="1051560"/>
          </a:xfrm>
          <a:prstGeom prst="rect">
            <a:avLst/>
          </a:prstGeom>
          <a:solidFill>
            <a:srgbClr val="1E1E2A"/>
          </a:solidFill>
          <a:ln w="9525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6607" y="21031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로비 접속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15487" y="2308860.0"/>
            <a:ext cx="274320" cy="0.0"/>
          </a:xfrm>
          <a:prstGeom prst="line">
            <a:avLst/>
          </a:prstGeom>
          <a:ln w="25400">
            <a:solidFill>
              <a:srgbClr val="F2B7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489807" y="1783080"/>
            <a:ext cx="2468880" cy="1051560"/>
          </a:xfrm>
          <a:prstGeom prst="rect">
            <a:avLst/>
          </a:prstGeom>
          <a:solidFill>
            <a:srgbClr val="1E1E2A"/>
          </a:solidFill>
          <a:ln w="9525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9807" y="21031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방 생성 / 입장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58687" y="2308860.0"/>
            <a:ext cx="274320" cy="0.0"/>
          </a:xfrm>
          <a:prstGeom prst="line">
            <a:avLst/>
          </a:prstGeom>
          <a:ln w="25400">
            <a:solidFill>
              <a:srgbClr val="F2B7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233007" y="1783080"/>
            <a:ext cx="2468880" cy="1051560"/>
          </a:xfrm>
          <a:prstGeom prst="rect">
            <a:avLst/>
          </a:prstGeom>
          <a:solidFill>
            <a:srgbClr val="1E1E2A"/>
          </a:solidFill>
          <a:ln w="9525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21031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2인 매칭 완료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01887" y="2308860.0"/>
            <a:ext cx="274320" cy="0.0"/>
          </a:xfrm>
          <a:prstGeom prst="line">
            <a:avLst/>
          </a:prstGeom>
          <a:ln w="25400">
            <a:solidFill>
              <a:srgbClr val="F2B7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976207" y="1783080"/>
            <a:ext cx="2468880" cy="1051560"/>
          </a:xfrm>
          <a:prstGeom prst="rect">
            <a:avLst/>
          </a:prstGeom>
          <a:solidFill>
            <a:srgbClr val="1E1E2A"/>
          </a:solidFill>
          <a:ln w="9525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76207" y="21031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전투 씬 동기화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0040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C9C9D4"/>
                </a:solidFill>
                <a:latin typeface="Apple SD Gothic Neo"/>
              </a:rPr>
              <a:t>•  Photon Fusion 기반 실시간 네트워킹, 방(Room) 정원 2인 고정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C9C9D4"/>
                </a:solidFill>
                <a:latin typeface="Apple SD Gothic Neo"/>
              </a:rPr>
              <a:t>•  GameMode.AutoHostOrClient — 방을 만든 플레이어가 자동으로 호스트 겸 서버 역할 수행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C9C9D4"/>
                </a:solidFill>
                <a:latin typeface="Apple SD Gothic Neo"/>
              </a:rPr>
              <a:t>•  [Networked] 프로퍼티로 체력 · 점수 · 탄약 등 게임 상태를 서버 → 클라이언트로 자동 동기화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C9C9D4"/>
                </a:solidFill>
                <a:latin typeface="Apple SD Gothic Neo"/>
              </a:rPr>
              <a:t>•  카드 선택, 라운드 종료, 상태 전환 등 주요 이벤트는 RPC로 모든 클라이언트에 브로드캐스트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C9C9D4"/>
                </a:solidFill>
                <a:latin typeface="Apple SD Gothic Neo"/>
              </a:rPr>
              <a:t>•  로비에서 방 목록을 실시간으로 받아 매칭 UI에 노출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A8A9A"/>
                </a:solidFill>
                <a:latin typeface="Apple SD Gothic Neo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A9A"/>
                </a:solidFill>
                <a:latin typeface="Apple SD Gothic Neo"/>
              </a:rPr>
              <a:t>PowerUPS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38404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2B705"/>
                </a:solidFill>
                <a:latin typeface="Apple SD Gothic Neo"/>
              </a:rPr>
              <a:t>SUPPORT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Apple SD Gothic Neo"/>
              </a:rPr>
              <a:t>부가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327" y="1828800"/>
            <a:ext cx="3291840" cy="3291840"/>
          </a:xfrm>
          <a:prstGeom prst="rect">
            <a:avLst/>
          </a:prstGeom>
          <a:solidFill>
            <a:srgbClr val="1E1E2A"/>
          </a:solidFill>
          <a:ln w="9525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35327" y="2194560"/>
            <a:ext cx="10058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767" y="2286000"/>
            <a:ext cx="822960" cy="822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2327" y="342900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Apple SD Gothic Neo"/>
              </a:rPr>
              <a:t>설정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0927" y="3931920"/>
            <a:ext cx="2834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9C9D4"/>
                </a:solidFill>
                <a:latin typeface="Apple SD Gothic Neo"/>
              </a:rPr>
              <a:t>SettingsManager — 그래픽 · 사운드 옵션 저장/적용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9927" y="1828800"/>
            <a:ext cx="3291840" cy="3291840"/>
          </a:xfrm>
          <a:prstGeom prst="rect">
            <a:avLst/>
          </a:prstGeom>
          <a:solidFill>
            <a:srgbClr val="1E1E2A"/>
          </a:solidFill>
          <a:ln w="9525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rossh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367" y="2286000"/>
            <a:ext cx="822960" cy="822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49927" y="342900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Apple SD Gothic Neo"/>
              </a:rPr>
              <a:t>UI / HUD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8527" y="3931920"/>
            <a:ext cx="2834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9C9D4"/>
                </a:solidFill>
                <a:latin typeface="Apple SD Gothic Neo"/>
              </a:rPr>
              <a:t>UIManager · CrosshairUI — 상태창, 조준점 UI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7527" y="1828800"/>
            <a:ext cx="3291840" cy="3291840"/>
          </a:xfrm>
          <a:prstGeom prst="rect">
            <a:avLst/>
          </a:prstGeom>
          <a:solidFill>
            <a:srgbClr val="1E1E2A"/>
          </a:solidFill>
          <a:ln w="9525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lo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967" y="2286000"/>
            <a:ext cx="822960" cy="822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07527" y="342900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Apple SD Gothic Neo"/>
              </a:rPr>
              <a:t>채팅 &amp; 입력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27" y="3931920"/>
            <a:ext cx="2834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9C9D4"/>
                </a:solidFill>
                <a:latin typeface="Apple SD Gothic Neo"/>
              </a:rPr>
              <a:t>ChattingScript, 한글 입력 지원(CrossPlatformKoreanInput)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864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8A8A9A"/>
                </a:solidFill>
                <a:latin typeface="Apple SD Gothic Neo"/>
              </a:rPr>
              <a:t>그 외 SoundManager(BGM/SFX), SaveManager(설정 저장), CameraControlScript, 캐릭터 애니메이션 동기화 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A8A9A"/>
                </a:solidFill>
                <a:latin typeface="Apple SD Gothic Neo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A9A"/>
                </a:solidFill>
                <a:latin typeface="Apple SD Gothic Neo"/>
              </a:rPr>
              <a:t>PowerUPS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38404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2B705"/>
                </a:solidFill>
                <a:latin typeface="Apple SD Gothic Neo"/>
              </a:rPr>
              <a:t>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Apple SD Gothic Neo"/>
              </a:rPr>
              <a:t>한눈에 보기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678027" y="1828800"/>
            <a:ext cx="3429000" cy="1828800"/>
          </a:xfrm>
          <a:prstGeom prst="rect">
            <a:avLst/>
          </a:prstGeom>
          <a:solidFill>
            <a:srgbClr val="1E1E2A"/>
          </a:solidFill>
          <a:ln w="9525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8027" y="2148840"/>
            <a:ext cx="3429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F2B705"/>
                </a:solidFill>
                <a:latin typeface="Apple SD Gothic Neo"/>
              </a:rPr>
              <a:t>1 vs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027" y="2971800"/>
            <a:ext cx="3429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C9C9D4"/>
                </a:solidFill>
                <a:latin typeface="Apple SD Gothic Neo"/>
              </a:rPr>
              <a:t>실시간 대전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1347" y="1828800"/>
            <a:ext cx="3429000" cy="1828800"/>
          </a:xfrm>
          <a:prstGeom prst="rect">
            <a:avLst/>
          </a:prstGeom>
          <a:solidFill>
            <a:srgbClr val="1E1E2A"/>
          </a:solidFill>
          <a:ln w="9525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1347" y="2148840"/>
            <a:ext cx="3429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F2B705"/>
                </a:solidFill>
                <a:latin typeface="Apple SD Gothic Neo"/>
              </a:rPr>
              <a:t>HP 150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1347" y="2971800"/>
            <a:ext cx="3429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C9C9D4"/>
                </a:solidFill>
                <a:latin typeface="Apple SD Gothic Neo"/>
              </a:rPr>
              <a:t>기본 체력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4667" y="1828800"/>
            <a:ext cx="3429000" cy="1828800"/>
          </a:xfrm>
          <a:prstGeom prst="rect">
            <a:avLst/>
          </a:prstGeom>
          <a:solidFill>
            <a:srgbClr val="1E1E2A"/>
          </a:solidFill>
          <a:ln w="9525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4667" y="2148840"/>
            <a:ext cx="3429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F2B705"/>
                </a:solidFill>
                <a:latin typeface="Apple SD Gothic Neo"/>
              </a:rPr>
              <a:t>5 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4667" y="2971800"/>
            <a:ext cx="3429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C9C9D4"/>
                </a:solidFill>
                <a:latin typeface="Apple SD Gothic Neo"/>
              </a:rPr>
              <a:t>매치 승리 조건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8027" y="3931920"/>
            <a:ext cx="3429000" cy="1828800"/>
          </a:xfrm>
          <a:prstGeom prst="rect">
            <a:avLst/>
          </a:prstGeom>
          <a:solidFill>
            <a:srgbClr val="1E1E2A"/>
          </a:solidFill>
          <a:ln w="9525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027" y="4251960"/>
            <a:ext cx="3429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F2B705"/>
                </a:solidFill>
                <a:latin typeface="Apple SD Gothic Neo"/>
              </a:rPr>
              <a:t>30 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027" y="5074920"/>
            <a:ext cx="3429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C9C9D4"/>
                </a:solidFill>
                <a:latin typeface="Apple SD Gothic Neo"/>
              </a:rPr>
              <a:t>카드 선택 제한시간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1347" y="3931920"/>
            <a:ext cx="3429000" cy="1828800"/>
          </a:xfrm>
          <a:prstGeom prst="rect">
            <a:avLst/>
          </a:prstGeom>
          <a:solidFill>
            <a:srgbClr val="1E1E2A"/>
          </a:solidFill>
          <a:ln w="9525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1347" y="4251960"/>
            <a:ext cx="3429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F2B705"/>
                </a:solidFill>
                <a:latin typeface="Apple SD Gothic Neo"/>
              </a:rPr>
              <a:t>4 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1347" y="5074920"/>
            <a:ext cx="3429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C9C9D4"/>
                </a:solidFill>
                <a:latin typeface="Apple SD Gothic Neo"/>
              </a:rPr>
              <a:t>매 라운드 카드 후보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4667" y="3931920"/>
            <a:ext cx="3429000" cy="1828800"/>
          </a:xfrm>
          <a:prstGeom prst="rect">
            <a:avLst/>
          </a:prstGeom>
          <a:solidFill>
            <a:srgbClr val="1E1E2A"/>
          </a:solidFill>
          <a:ln w="9525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4667" y="4251960"/>
            <a:ext cx="3429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F2B705"/>
                </a:solidFill>
                <a:latin typeface="Apple SD Gothic Neo"/>
              </a:rPr>
              <a:t>2 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4667" y="5074920"/>
            <a:ext cx="3429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C9C9D4"/>
                </a:solidFill>
                <a:latin typeface="Apple SD Gothic Neo"/>
              </a:rPr>
              <a:t>룸 정원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A8A9A"/>
                </a:solidFill>
                <a:latin typeface="Apple SD Gothic Neo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A9A"/>
                </a:solidFill>
                <a:latin typeface="Apple SD Gothic Neo"/>
              </a:rPr>
              <a:t>PowerUPS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75120" y="0"/>
            <a:ext cx="5516575" cy="6858000"/>
          </a:xfrm>
          <a:prstGeom prst="rect">
            <a:avLst/>
          </a:prstGeom>
          <a:solidFill>
            <a:srgbClr val="1E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owerups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52387"/>
            <a:ext cx="4846320" cy="29532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" y="2788920"/>
            <a:ext cx="822960" cy="8229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017520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>
                <a:solidFill>
                  <a:srgbClr val="FFFFFF"/>
                </a:solidFill>
                <a:latin typeface="Apple SD Gothic Neo"/>
              </a:rPr>
              <a:t>감사합니다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2B705"/>
                </a:solidFill>
                <a:latin typeface="Apple SD Gothic Neo"/>
              </a:rPr>
              <a:t>PowerUPS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2628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8A9A"/>
                </a:solidFill>
                <a:latin typeface="Apple SD Gothic Neo"/>
              </a:rPr>
              <a:t>Questions &amp;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